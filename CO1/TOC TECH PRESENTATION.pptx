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  <p:sldId id="261" r:id="rId6"/>
    <p:sldId id="262" r:id="rId7"/>
    <p:sldId id="271" r:id="rId8"/>
    <p:sldId id="263" r:id="rId9"/>
    <p:sldId id="272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B6CF-7586-C292-191A-91999A346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39C4A-268C-9EE3-7978-AFB6A9434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ACB34-24E0-A5A0-8347-F73E8634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5A2AD-AB81-B54A-918B-BEADBC44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5EA79-50B0-95EE-09CE-54F917B3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09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66EF-57E9-6A20-68A8-B7A4C5EA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81C9-84AB-8DAA-7A6F-9051C715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27629-A280-92F4-6E2B-3A80BADC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E878-5036-55C8-C1BB-E96DC254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BD51E-BED5-7D96-346E-20BE6A12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9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FFF6-61D6-E327-601A-153A9CE7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CCFB-71E9-E128-B290-DB43A9B6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4784-4466-7CEC-0A73-E1A698DC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38F3-9906-5D6E-41DE-7CA34726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19D1-9A84-C5AA-CD15-17F0C223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7EA3-9ED2-3C83-34BD-0F3B842C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A56D-4793-70DD-49D4-45EC05475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E4B72-BB18-4C4C-DAC5-BD15DCCF3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EF95-2B67-8308-386C-96AC967E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2404E-F2A8-95F9-4F64-EB6DCA82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048A-079B-F9D7-8725-80C5F4CC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13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7563-8540-870A-C897-99BDC4A2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BFB0B-F559-B6DF-8E51-8375D9FA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10075-A865-1124-1B7B-B56D046BC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7B4EC-15F8-575A-7EB5-E8E87F800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4F500-6C9B-2922-F65C-FBA4B3040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6AF00-870D-35BC-A9BB-DE4D09F7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37D79-3BE2-9046-27AA-BA745206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59C59-5D7A-265D-1AF4-331C507A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9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2CB5-C072-0C0D-6008-A89D00B5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72133-B79E-708D-D938-E7AC2733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97E58-136B-8697-6DD9-41D9CAC9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C4070-89DF-2CB0-10F5-57FCE62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59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2960A-2F2B-E6F5-FEAA-915AB5F1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E7282-D9CA-1C4B-B4C0-02B4973D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E152B-85C8-B9A9-5143-83AD21DE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6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B591-F12D-DA6B-E87A-8E89BEF7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E7C5-50EE-AB2E-84E3-38F3B5E81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29EA-2499-5703-133D-1777C7A1B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B8091-AEA6-8BA9-04F9-978FAAA1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87C42-3B74-CFB5-833A-FB516869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20707-5942-9073-E834-CEDAB30D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9764-C4EF-ECB9-5565-EFA52D3C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CFA8F-D7B7-49C3-CB47-E9B59F6EB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718F-306D-90C2-99A1-B78C17607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E7B70-7F1C-B168-58D0-1D9F8A7A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8505F-0AC2-E970-0A94-5A8D0D80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36AD0-B79C-0770-0D54-EF2B08BF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6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F8D0-940B-3F14-A171-D7421E2E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E1F35-7CCF-FE32-87AD-57B809F4D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CC28-DF2E-493A-581F-63F9651B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FAE2-23C7-909A-7BEC-39B8838F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B1AC-0F1E-350D-11D0-A5177CE0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4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7C0EC-F0F5-49DE-B0E3-9E69600D3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40EE-92D5-8E25-307C-37B12343E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2DC6-66EB-F56F-AFF9-42A47260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148B-E984-1212-A458-D9E5B22A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C155-A3D6-6B97-18B6-66F74BB5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3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E4433-6756-2ACD-8DEE-8B959C48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FFD6A-56A7-54A6-AE27-13D5BCFF3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AF399-CA67-7D32-A3CD-D32781435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0DC90-4889-4811-98E9-BB6BEE8A263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D575-E7E3-DD5C-62B7-15DAD1D1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FEB20-B675-5461-CD97-405B7B928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B8C62-C4DF-46D7-ACFB-1F044CE1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B2A5-6DCE-0059-6817-0D21246C4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689" y="2042933"/>
            <a:ext cx="10504990" cy="1366596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b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to DFA Conversion Using Subset Construction Method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CSA1312-THEORY OF COMPUTATION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F621D89-6A8C-2332-39C6-FAE3798D7CCB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B45F44E-C030-CA3F-1536-8B5455A4B80F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29E7A-485B-05D4-F834-C391F4EFE616}"/>
              </a:ext>
            </a:extLst>
          </p:cNvPr>
          <p:cNvSpPr txBox="1"/>
          <p:nvPr/>
        </p:nvSpPr>
        <p:spPr>
          <a:xfrm>
            <a:off x="8534400" y="5184398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S.PRTAEEKSHA-192572137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F560A-2C1F-861D-639D-18298EF1B4DF}"/>
              </a:ext>
            </a:extLst>
          </p:cNvPr>
          <p:cNvSpPr txBox="1"/>
          <p:nvPr/>
        </p:nvSpPr>
        <p:spPr>
          <a:xfrm>
            <a:off x="134761" y="4999732"/>
            <a:ext cx="4054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Dr.Balamanigandan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4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5677-5BDC-5C04-E2CA-99D5591AF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5D552-0E57-732F-973C-FDFB66A5A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6633" y="1881344"/>
            <a:ext cx="10738884" cy="5348800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are used to recognize patterns and languages.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stands for Non-Deterministic Finite Automaton.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 stands for Deterministic Finite Automaton.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recognize regular languages.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NFA can be converted into an equivalent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1716C-7952-45EA-1EC9-869811A65116}"/>
              </a:ext>
            </a:extLst>
          </p:cNvPr>
          <p:cNvSpPr txBox="1"/>
          <p:nvPr/>
        </p:nvSpPr>
        <p:spPr>
          <a:xfrm>
            <a:off x="3691315" y="581835"/>
            <a:ext cx="4676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Introuction</a:t>
            </a: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6E5541-6C5B-736D-8996-8428BE8AB671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6A660295-91C5-AD43-14C9-8C324CF724C3}"/>
              </a:ext>
            </a:extLst>
          </p:cNvPr>
          <p:cNvSpPr/>
          <p:nvPr/>
        </p:nvSpPr>
        <p:spPr>
          <a:xfrm>
            <a:off x="8367486" y="69998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3410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3651-80D4-8B93-26CD-CCF29E26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55" y="829994"/>
            <a:ext cx="10504969" cy="1458119"/>
          </a:xfrm>
        </p:spPr>
        <p:txBody>
          <a:bodyPr>
            <a:no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NFA?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7208A-A78F-ABC2-4EA9-458ED7F5EC8B}"/>
              </a:ext>
            </a:extLst>
          </p:cNvPr>
          <p:cNvSpPr txBox="1"/>
          <p:nvPr/>
        </p:nvSpPr>
        <p:spPr>
          <a:xfrm>
            <a:off x="1903228" y="2488019"/>
            <a:ext cx="1111102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NFA can have multiple transitions for the same input.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have no transition for some inputs.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move to multiple states for one input symbol.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is accepted if at least one path reaches a final state.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From state \(q_0\), input 0 may lead to both \(q_0\) and \(q_1\).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B652564-6867-1CA3-60E5-FF01DF3E9724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D0BF9DC1-B3EF-0FA3-D1C7-D089C73CD4EB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55586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BCBB-B3BB-F152-CF53-D20A575A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067" y="872683"/>
            <a:ext cx="8294226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DFA?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98647-11F9-EBD6-B128-BA6658D98E42}"/>
              </a:ext>
            </a:extLst>
          </p:cNvPr>
          <p:cNvSpPr txBox="1"/>
          <p:nvPr/>
        </p:nvSpPr>
        <p:spPr>
          <a:xfrm>
            <a:off x="1828801" y="2339163"/>
            <a:ext cx="103632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DFA has exactly one transition for each input symbol from every state.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ambiguity in state transitions.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only one path for an input string.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 start state and one or more accepting states, when needed.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implement in programs and pattern-matching systems.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77CA5A4-A80A-DEBF-FB09-AFDFF3743C38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D81DDA2E-B7E9-5553-509A-68E06FEAC9A4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70083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59B5-9DAE-D49F-B231-78DE27F7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14" y="964922"/>
            <a:ext cx="11536323" cy="1314107"/>
          </a:xfrm>
        </p:spPr>
        <p:txBody>
          <a:bodyPr>
            <a:no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 vs DFA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089D647-3B03-2019-A89E-3D789CF419AF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B9CB977-0743-237A-AB94-1DE579CB2A6D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D4BA12-5DFB-A56A-607A-E353D4B6D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20362"/>
              </p:ext>
            </p:extLst>
          </p:nvPr>
        </p:nvGraphicFramePr>
        <p:xfrm>
          <a:off x="838200" y="1929757"/>
          <a:ext cx="10676860" cy="428590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338430">
                  <a:extLst>
                    <a:ext uri="{9D8B030D-6E8A-4147-A177-3AD203B41FA5}">
                      <a16:colId xmlns:a16="http://schemas.microsoft.com/office/drawing/2014/main" val="4237008510"/>
                    </a:ext>
                  </a:extLst>
                </a:gridCol>
                <a:gridCol w="5338430">
                  <a:extLst>
                    <a:ext uri="{9D8B030D-6E8A-4147-A177-3AD203B41FA5}">
                      <a16:colId xmlns:a16="http://schemas.microsoft.com/office/drawing/2014/main" val="602954232"/>
                    </a:ext>
                  </a:extLst>
                </a:gridCol>
              </a:tblGrid>
              <a:tr h="644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564759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possible 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Exactly one transition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583268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have missing 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transition must be 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698366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multiple possible paths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Follows one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173695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to design in some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to 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428492"/>
                  </a:ext>
                </a:extLst>
              </a:tr>
              <a:tr h="1065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using subset 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represent the same regular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089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12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F397-4F6D-A5DD-D6D2-0D58E053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737" y="3253563"/>
            <a:ext cx="10379150" cy="13255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Convert NFA into DFA</a:t>
            </a:r>
            <a:b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2193D-5EF3-F693-B6B7-99C3A4BEA954}"/>
              </a:ext>
            </a:extLst>
          </p:cNvPr>
          <p:cNvSpPr txBox="1"/>
          <p:nvPr/>
        </p:nvSpPr>
        <p:spPr>
          <a:xfrm>
            <a:off x="1740195" y="2179674"/>
            <a:ext cx="9400068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1: Identify the initial state of the NFA.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2: Make the initial DFA state using the NFA's initial state.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3: Find the transitions for each input symbol.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4: Combine all reachable NFA states into DFA states (subsets).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5: Repeat until no new states are found.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Step 6: Mark every subset containing an NFA final state as a DFA final state.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BD2C99-737D-F08B-566F-65FE48CB7E75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AD45BEC8-B40D-EC9F-49DB-1A36401BDA4C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101946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609A-32B5-E5FA-38DB-7F893FA0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286" y="1653304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NFA to DFA Conversion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25B1243B-C697-3520-F4C1-B2D0FFA36A81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28320703-E4A3-6C89-09A2-744B362F9064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1F1E8-5557-E5B6-ACB0-BD9EF9D9B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788194"/>
              </p:ext>
            </p:extLst>
          </p:nvPr>
        </p:nvGraphicFramePr>
        <p:xfrm>
          <a:off x="2982508" y="4602147"/>
          <a:ext cx="5906142" cy="191386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68714">
                  <a:extLst>
                    <a:ext uri="{9D8B030D-6E8A-4147-A177-3AD203B41FA5}">
                      <a16:colId xmlns:a16="http://schemas.microsoft.com/office/drawing/2014/main" val="1445082968"/>
                    </a:ext>
                  </a:extLst>
                </a:gridCol>
                <a:gridCol w="1968714">
                  <a:extLst>
                    <a:ext uri="{9D8B030D-6E8A-4147-A177-3AD203B41FA5}">
                      <a16:colId xmlns:a16="http://schemas.microsoft.com/office/drawing/2014/main" val="1602426502"/>
                    </a:ext>
                  </a:extLst>
                </a:gridCol>
                <a:gridCol w="1968714">
                  <a:extLst>
                    <a:ext uri="{9D8B030D-6E8A-4147-A177-3AD203B41FA5}">
                      <a16:colId xmlns:a16="http://schemas.microsoft.com/office/drawing/2014/main" val="3214568435"/>
                    </a:ext>
                  </a:extLst>
                </a:gridCol>
              </a:tblGrid>
              <a:tr h="6379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State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Input 0</a:t>
                      </a:r>
                      <a:endParaRPr lang="en-IN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Input 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702378"/>
                  </a:ext>
                </a:extLst>
              </a:tr>
              <a:tr h="6379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→ \(q_0\)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\(\{q_0,q_1\}\)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\(\{q_0\}\)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21320"/>
                  </a:ext>
                </a:extLst>
              </a:tr>
              <a:tr h="6379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*\(q_1\)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\(\{q_1\}\)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6469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C444D1-8D68-4BC0-9437-2A5C88ED5D68}"/>
              </a:ext>
            </a:extLst>
          </p:cNvPr>
          <p:cNvSpPr txBox="1"/>
          <p:nvPr/>
        </p:nvSpPr>
        <p:spPr>
          <a:xfrm>
            <a:off x="2944957" y="2368966"/>
            <a:ext cx="625642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NFA over the alphabet \(\Sigma=\{0,1\}\).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states: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\(q_0\)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state: \(q_1\)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transition table:</a:t>
            </a:r>
          </a:p>
        </p:txBody>
      </p:sp>
    </p:spTree>
    <p:extLst>
      <p:ext uri="{BB962C8B-B14F-4D97-AF65-F5344CB8AC3E}">
        <p14:creationId xmlns:p14="http://schemas.microsoft.com/office/powerpoint/2010/main" val="11971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293B-DF07-8589-D552-AE983DAA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23" y="964922"/>
            <a:ext cx="11748977" cy="1305049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NFA to DFA Conversion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FE55F-8AEE-690D-679C-C30F9D4D0A04}"/>
              </a:ext>
            </a:extLst>
          </p:cNvPr>
          <p:cNvSpPr txBox="1"/>
          <p:nvPr/>
        </p:nvSpPr>
        <p:spPr>
          <a:xfrm>
            <a:off x="1554125" y="2457418"/>
            <a:ext cx="9526771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explosion: The DFA may have many more states than the NFA.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formation: Each DFA state represents a subset of NFA states.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calculation: All possible NFA transitions must be considered.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Final-state identification: Accepting subsets must be marked correctly.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Unreachable states: Unreachable subsets can be removed to simplify the DFA</a:t>
            </a:r>
            <a:r>
              <a:rPr lang="en-IN" sz="2400" dirty="0"/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8ACB578-5423-F72F-D164-480FD1C098B7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4C915E9-7E7E-7563-C4C8-E58AF3FC5461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05937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D961-33D9-C4A0-E7A6-A66797FE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3FBFA-BFF7-2F92-6480-6CBEA2A8327B}"/>
              </a:ext>
            </a:extLst>
          </p:cNvPr>
          <p:cNvSpPr txBox="1"/>
          <p:nvPr/>
        </p:nvSpPr>
        <p:spPr>
          <a:xfrm>
            <a:off x="2753832" y="2193788"/>
            <a:ext cx="778303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NFA has an equivalent DFA.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recognize the same regular language.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construction is the standard conversion technique.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DFA has exactly one transition per input symbol from each state.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 is the possible increase in the number of states.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219C9E0-64F1-FA8F-6F2D-012CE441C215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4EFD571B-1AA5-2619-62CA-3A2F5ED393EB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62051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0DF4DF61-84CC-43AE-602D-E783AB712DA4}"/>
              </a:ext>
            </a:extLst>
          </p:cNvPr>
          <p:cNvSpPr/>
          <p:nvPr/>
        </p:nvSpPr>
        <p:spPr>
          <a:xfrm>
            <a:off x="3307" y="87"/>
            <a:ext cx="3592285" cy="964835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75C374C-F9A3-DF26-1EFD-02D97F785529}"/>
              </a:ext>
            </a:extLst>
          </p:cNvPr>
          <p:cNvSpPr/>
          <p:nvPr/>
        </p:nvSpPr>
        <p:spPr>
          <a:xfrm>
            <a:off x="8367486" y="5842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7F4E42-B2FA-F20C-86EF-B46CF0EA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645" y="302326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4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535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 TECHNICAL PRESENTATION  NFA to DFA Conversion Using Subset Construction Method  CSA1312-THEORY OF COMPUTATION</vt:lpstr>
      <vt:lpstr> </vt:lpstr>
      <vt:lpstr>What is NFA?</vt:lpstr>
      <vt:lpstr>What is DFA?</vt:lpstr>
      <vt:lpstr>NFA vs DFA </vt:lpstr>
      <vt:lpstr>Steps to Convert NFA into DFA    </vt:lpstr>
      <vt:lpstr>Example of NFA to DFA Conversion  </vt:lpstr>
      <vt:lpstr>Challenges in NFA to DFA Conversion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S</dc:creator>
  <cp:lastModifiedBy>Prateeksha S</cp:lastModifiedBy>
  <cp:revision>12</cp:revision>
  <dcterms:created xsi:type="dcterms:W3CDTF">2026-07-29T14:36:35Z</dcterms:created>
  <dcterms:modified xsi:type="dcterms:W3CDTF">2026-10-09T16:15:16Z</dcterms:modified>
</cp:coreProperties>
</file>